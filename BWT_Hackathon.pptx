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964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3DC1B0-AECE-4EC2-932E-4348C4ACBFC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1188F3-789A-490C-9007-73C8765AE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772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188F3-789A-490C-9007-73C8765AE0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516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794760" cy="6858000"/>
          </a:xfrm>
          <a:prstGeom prst="rect">
            <a:avLst/>
          </a:prstGeom>
          <a:solidFill>
            <a:srgbClr val="16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640080"/>
            <a:ext cx="201168" cy="201168"/>
          </a:xfrm>
          <a:prstGeom prst="ellipse">
            <a:avLst/>
          </a:prstGeom>
          <a:solidFill>
            <a:srgbClr val="376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926080" y="1143000"/>
            <a:ext cx="146304" cy="146304"/>
          </a:xfrm>
          <a:prstGeom prst="ellipse">
            <a:avLst/>
          </a:prstGeom>
          <a:solidFill>
            <a:srgbClr val="26A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" y="5852160"/>
            <a:ext cx="256032" cy="256032"/>
          </a:xfrm>
          <a:prstGeom prst="ellipse">
            <a:avLst/>
          </a:prstGeom>
          <a:solidFill>
            <a:srgbClr val="89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54680" y="5486400"/>
            <a:ext cx="201168" cy="201168"/>
          </a:xfrm>
          <a:prstGeom prst="ellipse">
            <a:avLst/>
          </a:prstGeom>
          <a:solidFill>
            <a:srgbClr val="EB9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2743200" cy="11430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t>CAMPUS</a:t>
            </a:r>
            <a:br/>
            <a:r>
              <a:t>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246120"/>
            <a:ext cx="2697480" cy="7772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1">
                <a:solidFill>
                  <a:srgbClr val="CDDAF1"/>
                </a:solidFill>
                <a:latin typeface="Aptos"/>
              </a:defRPr>
            </a:pPr>
            <a:r>
              <a:t>STUDENT SERVICES</a:t>
            </a:r>
            <a:br/>
            <a:r>
              <a:t>SMARTER CAMPUS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4985" y="2135802"/>
            <a:ext cx="7132320" cy="1417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3400" b="1">
                <a:solidFill>
                  <a:srgbClr val="162A4B"/>
                </a:solidFill>
                <a:latin typeface="Aptos"/>
              </a:defRPr>
            </a:pPr>
            <a:r>
              <a:rPr dirty="0"/>
              <a:t>Campus Complaint</a:t>
            </a:r>
            <a:br>
              <a:rPr dirty="0"/>
            </a:br>
            <a:r>
              <a:rPr dirty="0"/>
              <a:t>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4985" y="3503287"/>
            <a:ext cx="6675120" cy="7772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800" b="0">
                <a:solidFill>
                  <a:srgbClr val="697C97"/>
                </a:solidFill>
                <a:latin typeface="Aptos"/>
              </a:defRPr>
            </a:pPr>
            <a:r>
              <a:rPr dirty="0"/>
              <a:t>A simple digital platform to report campus issues,</a:t>
            </a:r>
            <a:br>
              <a:rPr dirty="0"/>
            </a:br>
            <a:r>
              <a:rPr dirty="0"/>
              <a:t>track progress, and improve student services.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75760" y="4630203"/>
            <a:ext cx="3840480" cy="621792"/>
          </a:xfrm>
          <a:prstGeom prst="roundRect">
            <a:avLst/>
          </a:prstGeom>
          <a:solidFill>
            <a:srgbClr val="F2F6FC"/>
          </a:solidFill>
          <a:ln w="10160"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4358640" y="4792591"/>
            <a:ext cx="347472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1">
                <a:solidFill>
                  <a:srgbClr val="162A4B"/>
                </a:solidFill>
                <a:latin typeface="Aptos"/>
              </a:defRPr>
            </a:pPr>
            <a:r>
              <a:rPr dirty="0"/>
              <a:t>PROJECT: CAMPUSCARE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7553D0-FA4D-8ADF-F0B3-956FC636B05B}"/>
              </a:ext>
            </a:extLst>
          </p:cNvPr>
          <p:cNvSpPr txBox="1"/>
          <p:nvPr/>
        </p:nvSpPr>
        <p:spPr>
          <a:xfrm>
            <a:off x="8749780" y="4878533"/>
            <a:ext cx="48780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 Sindhu-25MVCSMR0016</a:t>
            </a:r>
          </a:p>
          <a:p>
            <a:r>
              <a:rPr lang="en-US" sz="2000" b="1" dirty="0"/>
              <a:t>CH Harika-25MVCSMR0023</a:t>
            </a:r>
          </a:p>
          <a:p>
            <a:r>
              <a:rPr lang="en-US" sz="2000" b="1" dirty="0"/>
              <a:t>Tanya Kumari-25MVCSMR0081</a:t>
            </a:r>
          </a:p>
          <a:p>
            <a:r>
              <a:rPr lang="en-US" sz="2000" b="1" dirty="0"/>
              <a:t>T Hasini-25MVCSMR0084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7908CC-632A-1F73-DB71-D9E0946620E7}"/>
              </a:ext>
            </a:extLst>
          </p:cNvPr>
          <p:cNvSpPr txBox="1"/>
          <p:nvPr/>
        </p:nvSpPr>
        <p:spPr>
          <a:xfrm>
            <a:off x="3912529" y="126245"/>
            <a:ext cx="66751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IN" sz="2800" b="1" dirty="0">
                <a:solidFill>
                  <a:srgbClr val="4E95D9"/>
                </a:solidFill>
                <a:latin typeface="Aptos" panose="020B0004020202020204" pitchFamily="34" charset="0"/>
              </a:rPr>
              <a:t>MALLA REDDY TECHNICAL CAMPUS</a:t>
            </a:r>
            <a:r>
              <a:rPr lang="en-US" sz="2800" dirty="0">
                <a:latin typeface="Aptos" panose="020B0004020202020204" pitchFamily="34" charset="0"/>
              </a:rPr>
              <a:t>​</a:t>
            </a:r>
            <a:endParaRPr lang="en-US" sz="2800" dirty="0"/>
          </a:p>
          <a:p>
            <a:pPr algn="ctr" fontAlgn="base"/>
            <a:r>
              <a:rPr lang="en-IN" b="1" dirty="0">
                <a:solidFill>
                  <a:srgbClr val="000000"/>
                </a:solidFill>
                <a:latin typeface="Aptos" panose="020B0004020202020204" pitchFamily="34" charset="0"/>
              </a:rPr>
              <a:t>A </a:t>
            </a:r>
            <a:r>
              <a:rPr lang="en-IN" b="1" dirty="0">
                <a:latin typeface="Aptos" panose="020B0004020202020204" pitchFamily="34" charset="0"/>
              </a:rPr>
              <a:t>constituent Unit of MALLA REDDY VISHWAVIDYAPEETH Deemed to be University Approved by UGC &amp; AICTE New Delhi </a:t>
            </a:r>
            <a:r>
              <a:rPr lang="en-IN" b="1" dirty="0" err="1">
                <a:latin typeface="Aptos" panose="020B0004020202020204" pitchFamily="34" charset="0"/>
              </a:rPr>
              <a:t>Maisammaguda</a:t>
            </a:r>
            <a:r>
              <a:rPr lang="en-IN" b="1" dirty="0">
                <a:latin typeface="Aptos" panose="020B0004020202020204" pitchFamily="34" charset="0"/>
              </a:rPr>
              <a:t> , </a:t>
            </a:r>
            <a:r>
              <a:rPr lang="en-IN" b="1" dirty="0" err="1">
                <a:latin typeface="Aptos" panose="020B0004020202020204" pitchFamily="34" charset="0"/>
              </a:rPr>
              <a:t>Medchal</a:t>
            </a:r>
            <a:r>
              <a:rPr lang="en-IN" b="1" dirty="0">
                <a:latin typeface="Aptos" panose="020B0004020202020204" pitchFamily="34" charset="0"/>
              </a:rPr>
              <a:t> (</a:t>
            </a:r>
            <a:r>
              <a:rPr lang="en-IN" b="1" dirty="0" err="1">
                <a:latin typeface="Aptos" panose="020B0004020202020204" pitchFamily="34" charset="0"/>
              </a:rPr>
              <a:t>Dist</a:t>
            </a:r>
            <a:r>
              <a:rPr lang="en-IN" b="1" dirty="0">
                <a:latin typeface="Aptos" panose="020B0004020202020204" pitchFamily="34" charset="0"/>
              </a:rPr>
              <a:t>), Hyderabad – 500100, Telangana</a:t>
            </a:r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2CD0DA4-7FED-DF9A-6D66-6A04F3F9E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7391" y="65744"/>
            <a:ext cx="1673971" cy="1349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1ADE807-EB8D-CC13-604B-899432DE57F4}"/>
              </a:ext>
            </a:extLst>
          </p:cNvPr>
          <p:cNvSpPr txBox="1"/>
          <p:nvPr/>
        </p:nvSpPr>
        <p:spPr>
          <a:xfrm>
            <a:off x="9417218" y="4170647"/>
            <a:ext cx="33843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TEAM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6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51560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700" b="1">
                <a:solidFill>
                  <a:srgbClr val="162A4B"/>
                </a:solidFill>
                <a:latin typeface="Aptos"/>
              </a:defRPr>
            </a:pPr>
            <a:r>
              <a:t>1. 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E0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14300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100" b="1">
                <a:solidFill>
                  <a:srgbClr val="162A4B"/>
                </a:solidFill>
                <a:latin typeface="Aptos"/>
              </a:defRPr>
            </a:pPr>
            <a:r>
              <a:t>Campus issues need a clear, reliable way to reach the right team.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347472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965960"/>
            <a:ext cx="3474720" cy="82296"/>
          </a:xfrm>
          <a:prstGeom prst="rect">
            <a:avLst/>
          </a:prstGeom>
          <a:solidFill>
            <a:srgbClr val="376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304288"/>
            <a:ext cx="301752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800" b="1">
                <a:solidFill>
                  <a:srgbClr val="162A4B"/>
                </a:solidFill>
                <a:latin typeface="Aptos"/>
              </a:defRPr>
            </a:pPr>
            <a:r>
              <a:t>Scattered 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52928"/>
            <a:ext cx="2999232" cy="9144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500" b="0">
                <a:solidFill>
                  <a:srgbClr val="697C97"/>
                </a:solidFill>
                <a:latin typeface="Aptos"/>
              </a:defRPr>
            </a:pPr>
            <a:r>
              <a:t>Students may report issues verbally, by phone, or through different channels.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1965960"/>
            <a:ext cx="347472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07992" y="1965960"/>
            <a:ext cx="3474720" cy="82296"/>
          </a:xfrm>
          <a:prstGeom prst="rect">
            <a:avLst/>
          </a:prstGeom>
          <a:solidFill>
            <a:srgbClr val="EB9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04288"/>
            <a:ext cx="301752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800" b="1">
                <a:solidFill>
                  <a:srgbClr val="162A4B"/>
                </a:solidFill>
                <a:latin typeface="Aptos"/>
              </a:defRPr>
            </a:pPr>
            <a:r>
              <a:t>Limited 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852928"/>
            <a:ext cx="2999232" cy="9144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500" b="0">
                <a:solidFill>
                  <a:srgbClr val="697C97"/>
                </a:solidFill>
                <a:latin typeface="Aptos"/>
              </a:defRPr>
            </a:pPr>
            <a:r>
              <a:t>It can be difficult to know whether a complaint was received or reviewed.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0183" y="1965960"/>
            <a:ext cx="347472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30183" y="1965960"/>
            <a:ext cx="3474720" cy="82296"/>
          </a:xfrm>
          <a:prstGeom prst="rect">
            <a:avLst/>
          </a:prstGeom>
          <a:solidFill>
            <a:srgbClr val="89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58784" y="2304288"/>
            <a:ext cx="301752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800" b="1">
                <a:solidFill>
                  <a:srgbClr val="162A4B"/>
                </a:solidFill>
                <a:latin typeface="Aptos"/>
              </a:defRPr>
            </a:pPr>
            <a:r>
              <a:t>Follow-up challenges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2852928"/>
            <a:ext cx="2999232" cy="9144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500" b="0">
                <a:solidFill>
                  <a:srgbClr val="697C97"/>
                </a:solidFill>
                <a:latin typeface="Aptos"/>
              </a:defRPr>
            </a:pPr>
            <a:r>
              <a:t>Staff may struggle to organize, prioritize, and track open issues.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617720"/>
            <a:ext cx="10927080" cy="1051560"/>
          </a:xfrm>
          <a:prstGeom prst="roundRect">
            <a:avLst/>
          </a:prstGeom>
          <a:solidFill>
            <a:srgbClr val="E8F0FF"/>
          </a:solidFill>
          <a:ln w="10160">
            <a:solidFill>
              <a:srgbClr val="D8E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892040"/>
            <a:ext cx="10424160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700" b="1">
                <a:solidFill>
                  <a:srgbClr val="3765DC"/>
                </a:solidFill>
                <a:latin typeface="Aptos"/>
              </a:defRPr>
            </a:pPr>
            <a:r>
              <a:t>Project goal: make complaint submission, assignment, and status tracking simple and transparent.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6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51560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700" b="1">
                <a:solidFill>
                  <a:srgbClr val="162A4B"/>
                </a:solidFill>
                <a:latin typeface="Aptos"/>
              </a:defRPr>
            </a:pPr>
            <a:r>
              <a:t>2. Proposed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E0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000" b="1">
                <a:solidFill>
                  <a:srgbClr val="162A4B"/>
                </a:solidFill>
                <a:latin typeface="Aptos"/>
              </a:defRPr>
            </a:pPr>
            <a:r>
              <a:t>CampusCare brings the complaint journey into one organized portal.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57400"/>
            <a:ext cx="251460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9536" y="2304288"/>
            <a:ext cx="530352" cy="530352"/>
          </a:xfrm>
          <a:prstGeom prst="ellipse">
            <a:avLst/>
          </a:prstGeom>
          <a:solidFill>
            <a:srgbClr val="376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450592"/>
            <a:ext cx="475488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063240"/>
            <a:ext cx="214884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900" b="1">
                <a:solidFill>
                  <a:srgbClr val="162A4B"/>
                </a:solidFill>
                <a:latin typeface="Aptos"/>
              </a:defRPr>
            </a:pPr>
            <a:r>
              <a:t>Submit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520440"/>
            <a:ext cx="210312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697C97"/>
                </a:solidFill>
                <a:latin typeface="Aptos"/>
              </a:defRPr>
            </a:pPr>
            <a:r>
              <a:t>Student enters the issue, category, and location.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91256" y="2852928"/>
            <a:ext cx="32004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2400" b="1">
                <a:solidFill>
                  <a:srgbClr val="3765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38728" y="2057400"/>
            <a:ext cx="251460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739896" y="2304288"/>
            <a:ext cx="530352" cy="530352"/>
          </a:xfrm>
          <a:prstGeom prst="ellipse">
            <a:avLst/>
          </a:prstGeom>
          <a:solidFill>
            <a:srgbClr val="376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67328" y="2450592"/>
            <a:ext cx="475488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063240"/>
            <a:ext cx="214884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900" b="1">
                <a:solidFill>
                  <a:srgbClr val="162A4B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9896" y="3520440"/>
            <a:ext cx="210312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697C97"/>
                </a:solidFill>
                <a:latin typeface="Aptos"/>
              </a:defRPr>
            </a:pPr>
            <a:r>
              <a:t>Campus team reviews the complaint and assigns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71616" y="2852928"/>
            <a:ext cx="32004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2400" b="1">
                <a:solidFill>
                  <a:srgbClr val="3765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19088" y="2057400"/>
            <a:ext cx="251460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620255" y="2304288"/>
            <a:ext cx="530352" cy="530352"/>
          </a:xfrm>
          <a:prstGeom prst="ellipse">
            <a:avLst/>
          </a:prstGeom>
          <a:solidFill>
            <a:srgbClr val="26A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47688" y="2450592"/>
            <a:ext cx="475488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5" y="3063240"/>
            <a:ext cx="214884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900" b="1">
                <a:solidFill>
                  <a:srgbClr val="162A4B"/>
                </a:solidFill>
                <a:latin typeface="Aptos"/>
              </a:defRPr>
            </a:pPr>
            <a:r>
              <a:t>Track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5" y="3520440"/>
            <a:ext cx="210312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697C97"/>
                </a:solidFill>
                <a:latin typeface="Aptos"/>
              </a:defRPr>
            </a:pPr>
            <a:r>
              <a:t>Student checks the latest status at any time.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1976" y="2852928"/>
            <a:ext cx="32004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2400" b="1">
                <a:solidFill>
                  <a:srgbClr val="3765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99448" y="2057400"/>
            <a:ext cx="251460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500616" y="2304288"/>
            <a:ext cx="530352" cy="530352"/>
          </a:xfrm>
          <a:prstGeom prst="ellipse">
            <a:avLst/>
          </a:prstGeom>
          <a:solidFill>
            <a:srgbClr val="26A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28048" y="2450592"/>
            <a:ext cx="475488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063240"/>
            <a:ext cx="214884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900" b="1">
                <a:solidFill>
                  <a:srgbClr val="162A4B"/>
                </a:solidFill>
                <a:latin typeface="Aptos"/>
              </a:defRPr>
            </a:pPr>
            <a:r>
              <a:t>Resolve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0616" y="3520440"/>
            <a:ext cx="210312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697C97"/>
                </a:solidFill>
                <a:latin typeface="Aptos"/>
              </a:defRPr>
            </a:pPr>
            <a:r>
              <a:t>Staff records the action taken and closes the issue.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892040"/>
            <a:ext cx="1088136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102352"/>
            <a:ext cx="1037844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600" b="1">
                <a:solidFill>
                  <a:srgbClr val="162A4B"/>
                </a:solidFill>
                <a:latin typeface="Aptos"/>
              </a:defRPr>
            </a:pPr>
            <a:r>
              <a:t>Expected value: fewer missed reports • better accountability • clearer communication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6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51560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700" b="1">
                <a:solidFill>
                  <a:srgbClr val="162A4B"/>
                </a:solidFill>
                <a:latin typeface="Aptos"/>
              </a:defRPr>
            </a:pPr>
            <a:r>
              <a:t>3. Key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E0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456432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86968" y="1527048"/>
            <a:ext cx="475488" cy="475488"/>
          </a:xfrm>
          <a:prstGeom prst="roundRect">
            <a:avLst/>
          </a:prstGeom>
          <a:solidFill>
            <a:srgbClr val="376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08760" y="1554480"/>
            <a:ext cx="23317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600" b="1">
                <a:solidFill>
                  <a:srgbClr val="162A4B"/>
                </a:solidFill>
                <a:latin typeface="Aptos"/>
              </a:defRPr>
            </a:pPr>
            <a:r>
              <a:t>Complaint 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2971800" cy="6583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697C97"/>
                </a:solidFill>
                <a:latin typeface="Aptos"/>
              </a:defRPr>
            </a:pPr>
            <a:r>
              <a:t>Report an issue with category, location, and description.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1325880"/>
            <a:ext cx="3456432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709159" y="1527048"/>
            <a:ext cx="475488" cy="475488"/>
          </a:xfrm>
          <a:prstGeom prst="roundRect">
            <a:avLst/>
          </a:prstGeom>
          <a:solidFill>
            <a:srgbClr val="EB9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30952" y="1554480"/>
            <a:ext cx="23317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600" b="1">
                <a:solidFill>
                  <a:srgbClr val="162A4B"/>
                </a:solidFill>
                <a:latin typeface="Aptos"/>
              </a:defRPr>
            </a:pPr>
            <a:r>
              <a:t>Status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148840"/>
            <a:ext cx="2971800" cy="6583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697C97"/>
                </a:solidFill>
                <a:latin typeface="Aptos"/>
              </a:defRPr>
            </a:pPr>
            <a:r>
              <a:t>View Submitted, In Progress, and Resolved complaints.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0183" y="1325880"/>
            <a:ext cx="3456432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531352" y="1527048"/>
            <a:ext cx="475488" cy="475488"/>
          </a:xfrm>
          <a:prstGeom prst="roundRect">
            <a:avLst/>
          </a:prstGeom>
          <a:solidFill>
            <a:srgbClr val="89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53144" y="1554480"/>
            <a:ext cx="23317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600" b="1">
                <a:solidFill>
                  <a:srgbClr val="162A4B"/>
                </a:solidFill>
                <a:latin typeface="Aptos"/>
              </a:defRPr>
            </a:pPr>
            <a:r>
              <a:t>Search &amp; filters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2148840"/>
            <a:ext cx="2971800" cy="6583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697C97"/>
                </a:solidFill>
                <a:latin typeface="Aptos"/>
              </a:defRPr>
            </a:pPr>
            <a:r>
              <a:t>Find reports by keyword, category, or status.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474720"/>
            <a:ext cx="3456432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86968" y="3675887"/>
            <a:ext cx="475488" cy="475488"/>
          </a:xfrm>
          <a:prstGeom prst="roundRect">
            <a:avLst/>
          </a:prstGeom>
          <a:solidFill>
            <a:srgbClr val="26A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08760" y="3703320"/>
            <a:ext cx="23317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600" b="1">
                <a:solidFill>
                  <a:srgbClr val="162A4B"/>
                </a:solidFill>
                <a:latin typeface="Aptos"/>
              </a:defRPr>
            </a:pPr>
            <a:r>
              <a:t>Dashboard 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2971800" cy="6583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697C97"/>
                </a:solidFill>
                <a:latin typeface="Aptos"/>
              </a:defRPr>
            </a:pPr>
            <a:r>
              <a:t>See total complaints and counts by status.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07992" y="3474720"/>
            <a:ext cx="3456432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709159" y="3675887"/>
            <a:ext cx="475488" cy="475488"/>
          </a:xfrm>
          <a:prstGeom prst="roundRect">
            <a:avLst/>
          </a:prstGeom>
          <a:solidFill>
            <a:srgbClr val="376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30952" y="3703320"/>
            <a:ext cx="23317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600" b="1">
                <a:solidFill>
                  <a:srgbClr val="162A4B"/>
                </a:solidFill>
                <a:latin typeface="Aptos"/>
              </a:defRPr>
            </a:pPr>
            <a:r>
              <a:t>Staff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36592" y="4297680"/>
            <a:ext cx="2971800" cy="6583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697C97"/>
                </a:solidFill>
                <a:latin typeface="Aptos"/>
              </a:defRPr>
            </a:pPr>
            <a:r>
              <a:t>Review reports and update progress as work continues.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30183" y="3474720"/>
            <a:ext cx="3456432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531352" y="3675887"/>
            <a:ext cx="475488" cy="475488"/>
          </a:xfrm>
          <a:prstGeom prst="roundRect">
            <a:avLst/>
          </a:prstGeom>
          <a:solidFill>
            <a:srgbClr val="EB9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53144" y="3703320"/>
            <a:ext cx="23317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600" b="1">
                <a:solidFill>
                  <a:srgbClr val="162A4B"/>
                </a:solidFill>
                <a:latin typeface="Aptos"/>
              </a:defRPr>
            </a:pPr>
            <a:r>
              <a:t>Refreshable 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58784" y="4297680"/>
            <a:ext cx="2971800" cy="6583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697C97"/>
                </a:solidFill>
                <a:latin typeface="Aptos"/>
              </a:defRPr>
            </a:pPr>
            <a:r>
              <a:t>Reload recent complaints to view the latest available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6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51560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700" b="1">
                <a:solidFill>
                  <a:srgbClr val="162A4B"/>
                </a:solidFill>
                <a:latin typeface="Aptos"/>
              </a:defRPr>
            </a:pPr>
            <a:r>
              <a:t>4. Prototype Walkthrough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E0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1078992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800" b="1">
                <a:solidFill>
                  <a:srgbClr val="162A4B"/>
                </a:solidFill>
                <a:latin typeface="Aptos"/>
              </a:defRPr>
            </a:pPr>
            <a:r>
              <a:t>The current interface focuses on quick overview and easy navigation.</a:t>
            </a:r>
          </a:p>
        </p:txBody>
      </p:sp>
      <p:pic>
        <p:nvPicPr>
          <p:cNvPr id="8" name="Picture 7" descr="5fc8c442-7d59-457f-8191-d297cdadd4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00200"/>
            <a:ext cx="7818120" cy="361505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732520" y="1645920"/>
            <a:ext cx="2743200" cy="4206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79408" y="1938528"/>
            <a:ext cx="22402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600" b="1">
                <a:solidFill>
                  <a:srgbClr val="162A4B"/>
                </a:solidFill>
                <a:latin typeface="Aptos"/>
              </a:defRPr>
            </a:pPr>
            <a:r>
              <a:t>What the demo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468880"/>
            <a:ext cx="2240280" cy="283464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162A4B"/>
                </a:solidFill>
                <a:latin typeface="Aptos"/>
              </a:defRPr>
            </a:pPr>
            <a:r>
              <a:t>Complaint totals at a glance</a:t>
            </a:r>
          </a:p>
          <a:p>
            <a:pPr>
              <a:spcAft>
                <a:spcPts val="1200"/>
              </a:spcAft>
              <a:defRPr sz="1300">
                <a:solidFill>
                  <a:srgbClr val="162A4B"/>
                </a:solidFill>
                <a:latin typeface="Aptos"/>
              </a:defRPr>
            </a:pPr>
            <a:r>
              <a:t>Status summary cards</a:t>
            </a:r>
          </a:p>
          <a:p>
            <a:pPr>
              <a:spcAft>
                <a:spcPts val="1200"/>
              </a:spcAft>
              <a:defRPr sz="1300">
                <a:solidFill>
                  <a:srgbClr val="162A4B"/>
                </a:solidFill>
                <a:latin typeface="Aptos"/>
              </a:defRPr>
            </a:pPr>
            <a:r>
              <a:t>Search and category filters</a:t>
            </a:r>
          </a:p>
          <a:p>
            <a:pPr>
              <a:spcAft>
                <a:spcPts val="1200"/>
              </a:spcAft>
              <a:defRPr sz="1300">
                <a:solidFill>
                  <a:srgbClr val="162A4B"/>
                </a:solidFill>
                <a:latin typeface="Aptos"/>
              </a:defRPr>
            </a:pPr>
            <a:r>
              <a:t>Recent complaints list</a:t>
            </a:r>
          </a:p>
          <a:p>
            <a:pPr>
              <a:spcAft>
                <a:spcPts val="1200"/>
              </a:spcAft>
              <a:defRPr sz="1300">
                <a:solidFill>
                  <a:srgbClr val="162A4B"/>
                </a:solidFill>
                <a:latin typeface="Aptos"/>
              </a:defRPr>
            </a:pPr>
            <a:r>
              <a:t>New complaint 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6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51560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700" b="1">
                <a:solidFill>
                  <a:srgbClr val="162A4B"/>
                </a:solidFill>
                <a:latin typeface="Aptos"/>
              </a:defRPr>
            </a:pPr>
            <a:r>
              <a:t>5. Technology &amp; Working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E0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5212080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36192"/>
            <a:ext cx="45720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800" b="1">
                <a:solidFill>
                  <a:srgbClr val="162A4B"/>
                </a:solidFill>
                <a:latin typeface="Aptos"/>
              </a:defRPr>
            </a:pPr>
            <a:r>
              <a:t>Suggested technology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48840"/>
            <a:ext cx="123444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1">
                <a:solidFill>
                  <a:srgbClr val="3765DC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148840"/>
            <a:ext cx="324612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162A4B"/>
                </a:solidFill>
                <a:latin typeface="Aptos"/>
              </a:defRPr>
            </a:pPr>
            <a:r>
              <a:t>HTML, CSS, JavaScript / React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7552" y="2651760"/>
            <a:ext cx="4434840" cy="9144"/>
          </a:xfrm>
          <a:prstGeom prst="rect">
            <a:avLst/>
          </a:prstGeom>
          <a:solidFill>
            <a:srgbClr val="E0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2898648"/>
            <a:ext cx="123444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1">
                <a:solidFill>
                  <a:srgbClr val="3765DC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898648"/>
            <a:ext cx="324612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162A4B"/>
                </a:solidFill>
                <a:latin typeface="Aptos"/>
              </a:defRPr>
            </a:pPr>
            <a:r>
              <a:t>Node.js with Express (if API is enabled)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552" y="3401568"/>
            <a:ext cx="4434840" cy="9144"/>
          </a:xfrm>
          <a:prstGeom prst="rect">
            <a:avLst/>
          </a:prstGeom>
          <a:solidFill>
            <a:srgbClr val="E0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3648456"/>
            <a:ext cx="123444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1">
                <a:solidFill>
                  <a:srgbClr val="3765DC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648456"/>
            <a:ext cx="324612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162A4B"/>
                </a:solidFill>
                <a:latin typeface="Aptos"/>
              </a:defRPr>
            </a:pPr>
            <a:r>
              <a:t>MongoDB (for persistent complaint records)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2" y="4151376"/>
            <a:ext cx="4434840" cy="9144"/>
          </a:xfrm>
          <a:prstGeom prst="rect">
            <a:avLst/>
          </a:prstGeom>
          <a:solidFill>
            <a:srgbClr val="E0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4398264"/>
            <a:ext cx="123444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1">
                <a:solidFill>
                  <a:srgbClr val="3765DC"/>
                </a:solidFill>
                <a:latin typeface="Aptos"/>
              </a:defRPr>
            </a:pPr>
            <a:r>
              <a:t>Interface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398264"/>
            <a:ext cx="324612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162A4B"/>
                </a:solidFill>
                <a:latin typeface="Aptos"/>
              </a:defRPr>
            </a:pPr>
            <a:r>
              <a:t>Dashboard, form, search, status filters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234440"/>
            <a:ext cx="5303520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1536192"/>
            <a:ext cx="45720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800" b="1">
                <a:solidFill>
                  <a:srgbClr val="162A4B"/>
                </a:solidFill>
                <a:latin typeface="Aptos"/>
              </a:defRPr>
            </a:pPr>
            <a:r>
              <a:t>Basic system workflow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2148840"/>
            <a:ext cx="4526280" cy="438912"/>
          </a:xfrm>
          <a:prstGeom prst="roundRect">
            <a:avLst/>
          </a:prstGeom>
          <a:solidFill>
            <a:srgbClr val="F2F6FC"/>
          </a:solidFill>
          <a:ln w="10160"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20840" y="2231136"/>
            <a:ext cx="4160520" cy="23774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300" b="1">
                <a:solidFill>
                  <a:srgbClr val="162A4B"/>
                </a:solidFill>
                <a:latin typeface="Aptos"/>
              </a:defRPr>
            </a:pPr>
            <a:r>
              <a:t>Student submits complaint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578608"/>
            <a:ext cx="54864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400" b="1">
                <a:solidFill>
                  <a:srgbClr val="3765DC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2770632"/>
            <a:ext cx="4526280" cy="438912"/>
          </a:xfrm>
          <a:prstGeom prst="roundRect">
            <a:avLst/>
          </a:prstGeom>
          <a:solidFill>
            <a:srgbClr val="F2F6FC"/>
          </a:solidFill>
          <a:ln w="10160"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20840" y="2852928"/>
            <a:ext cx="4160520" cy="23774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300" b="1">
                <a:solidFill>
                  <a:srgbClr val="162A4B"/>
                </a:solidFill>
                <a:latin typeface="Aptos"/>
              </a:defRPr>
            </a:pPr>
            <a:r>
              <a:t>System stores the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200400"/>
            <a:ext cx="54864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400" b="1">
                <a:solidFill>
                  <a:srgbClr val="895EE0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3392424"/>
            <a:ext cx="4526280" cy="438912"/>
          </a:xfrm>
          <a:prstGeom prst="roundRect">
            <a:avLst/>
          </a:prstGeom>
          <a:solidFill>
            <a:srgbClr val="F2F6FC"/>
          </a:solidFill>
          <a:ln w="10160"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20840" y="3474720"/>
            <a:ext cx="4160520" cy="23774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300" b="1">
                <a:solidFill>
                  <a:srgbClr val="162A4B"/>
                </a:solidFill>
                <a:latin typeface="Aptos"/>
              </a:defRPr>
            </a:pPr>
            <a:r>
              <a:t>Authorized staff reviews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22191"/>
            <a:ext cx="54864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400" b="1">
                <a:solidFill>
                  <a:srgbClr val="EB9726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37960" y="4014216"/>
            <a:ext cx="4526280" cy="438912"/>
          </a:xfrm>
          <a:prstGeom prst="roundRect">
            <a:avLst/>
          </a:prstGeom>
          <a:solidFill>
            <a:srgbClr val="F2F6FC"/>
          </a:solidFill>
          <a:ln w="10160"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20840" y="4096512"/>
            <a:ext cx="4160520" cy="23774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300" b="1">
                <a:solidFill>
                  <a:srgbClr val="162A4B"/>
                </a:solidFill>
                <a:latin typeface="Aptos"/>
              </a:defRPr>
            </a:pPr>
            <a:r>
              <a:t>Status is updated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443984"/>
            <a:ext cx="54864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400" b="1">
                <a:solidFill>
                  <a:srgbClr val="26A678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37960" y="4636008"/>
            <a:ext cx="4526280" cy="438912"/>
          </a:xfrm>
          <a:prstGeom prst="roundRect">
            <a:avLst/>
          </a:prstGeom>
          <a:solidFill>
            <a:srgbClr val="F2F6FC"/>
          </a:solidFill>
          <a:ln w="10160"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20840" y="4718304"/>
            <a:ext cx="4160520" cy="23774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300" b="1">
                <a:solidFill>
                  <a:srgbClr val="162A4B"/>
                </a:solidFill>
                <a:latin typeface="Aptos"/>
              </a:defRPr>
            </a:pPr>
            <a:r>
              <a:t>Student checks progress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6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600" b="1">
                <a:solidFill>
                  <a:srgbClr val="162A4B"/>
                </a:solidFill>
                <a:latin typeface="Aptos"/>
              </a:defRPr>
            </a:pPr>
            <a:r>
              <a:t>6. Impact, Future Scope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12080" cy="3429000"/>
          </a:xfrm>
          <a:prstGeom prst="roundRect">
            <a:avLst/>
          </a:prstGeom>
          <a:solidFill>
            <a:srgbClr val="F2F6FC"/>
          </a:solidFill>
          <a:ln w="10160"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48056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900" b="1">
                <a:solidFill>
                  <a:srgbClr val="162A4B"/>
                </a:solidFill>
                <a:latin typeface="Aptos"/>
              </a:defRPr>
            </a:pPr>
            <a:r>
              <a:t>Expected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4526280" cy="21031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62A4B"/>
                </a:solidFill>
                <a:latin typeface="Aptos"/>
              </a:defRPr>
            </a:pPr>
            <a:r>
              <a:t>A single place to report campus issues</a:t>
            </a:r>
          </a:p>
          <a:p>
            <a:pPr>
              <a:spcAft>
                <a:spcPts val="1200"/>
              </a:spcAft>
              <a:defRPr sz="1500">
                <a:solidFill>
                  <a:srgbClr val="162A4B"/>
                </a:solidFill>
                <a:latin typeface="Aptos"/>
              </a:defRPr>
            </a:pPr>
            <a:r>
              <a:t>Better visibility into complaint status</a:t>
            </a:r>
          </a:p>
          <a:p>
            <a:pPr>
              <a:spcAft>
                <a:spcPts val="1200"/>
              </a:spcAft>
              <a:defRPr sz="1500">
                <a:solidFill>
                  <a:srgbClr val="162A4B"/>
                </a:solidFill>
                <a:latin typeface="Aptos"/>
              </a:defRPr>
            </a:pPr>
            <a:r>
              <a:t>Easier prioritization for campus teams</a:t>
            </a:r>
          </a:p>
          <a:p>
            <a:pPr>
              <a:spcAft>
                <a:spcPts val="1200"/>
              </a:spcAft>
              <a:defRPr sz="1500">
                <a:solidFill>
                  <a:srgbClr val="162A4B"/>
                </a:solidFill>
                <a:latin typeface="Aptos"/>
              </a:defRPr>
            </a:pPr>
            <a:r>
              <a:t>A more responsive student-support process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303520" cy="3429000"/>
          </a:xfrm>
          <a:prstGeom prst="roundRect">
            <a:avLst/>
          </a:prstGeom>
          <a:solidFill>
            <a:srgbClr val="F2F6FC"/>
          </a:solidFill>
          <a:ln w="10160"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52628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900" b="1">
                <a:solidFill>
                  <a:srgbClr val="162A4B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526280" cy="21031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62A4B"/>
                </a:solidFill>
                <a:latin typeface="Aptos"/>
              </a:defRPr>
            </a:pPr>
            <a:r>
              <a:t>Student and staff login with role-based access</a:t>
            </a:r>
          </a:p>
          <a:p>
            <a:pPr>
              <a:spcAft>
                <a:spcPts val="1200"/>
              </a:spcAft>
              <a:defRPr sz="1500">
                <a:solidFill>
                  <a:srgbClr val="162A4B"/>
                </a:solidFill>
                <a:latin typeface="Aptos"/>
              </a:defRPr>
            </a:pPr>
            <a:r>
              <a:t>Email or in-app status notifications</a:t>
            </a:r>
          </a:p>
          <a:p>
            <a:pPr>
              <a:spcAft>
                <a:spcPts val="1200"/>
              </a:spcAft>
              <a:defRPr sz="1500">
                <a:solidFill>
                  <a:srgbClr val="162A4B"/>
                </a:solidFill>
                <a:latin typeface="Aptos"/>
              </a:defRPr>
            </a:pPr>
            <a:r>
              <a:t>Photo attachments and complaint priority</a:t>
            </a:r>
          </a:p>
          <a:p>
            <a:pPr>
              <a:spcAft>
                <a:spcPts val="1200"/>
              </a:spcAft>
              <a:defRPr sz="1500">
                <a:solidFill>
                  <a:srgbClr val="162A4B"/>
                </a:solidFill>
                <a:latin typeface="Aptos"/>
              </a:defRPr>
            </a:pPr>
            <a:r>
              <a:t>Analytics on resolution time and recurring issues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212080"/>
            <a:ext cx="10789920" cy="713232"/>
          </a:xfrm>
          <a:prstGeom prst="roundRect">
            <a:avLst/>
          </a:prstGeom>
          <a:solidFill>
            <a:srgbClr val="E8F0FF"/>
          </a:solidFill>
          <a:ln w="10160">
            <a:solidFill>
              <a:srgbClr val="D8E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413248"/>
            <a:ext cx="1033272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500" b="1">
                <a:solidFill>
                  <a:srgbClr val="3765DC"/>
                </a:solidFill>
                <a:latin typeface="Aptos"/>
              </a:defRPr>
            </a:pPr>
            <a:r>
              <a:t>CampusCare aims to turn campus complaints into trackable actions — helping build a better campus for everyone.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9E143F-671A-0295-EBC3-49131832E65D}"/>
              </a:ext>
            </a:extLst>
          </p:cNvPr>
          <p:cNvSpPr txBox="1"/>
          <p:nvPr/>
        </p:nvSpPr>
        <p:spPr>
          <a:xfrm>
            <a:off x="3294043" y="2379643"/>
            <a:ext cx="641181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/>
              <a:t>ThankYou!!</a:t>
            </a:r>
          </a:p>
        </p:txBody>
      </p:sp>
    </p:spTree>
    <p:extLst>
      <p:ext uri="{BB962C8B-B14F-4D97-AF65-F5344CB8AC3E}">
        <p14:creationId xmlns:p14="http://schemas.microsoft.com/office/powerpoint/2010/main" val="1535856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495</Words>
  <Application>Microsoft Office PowerPoint</Application>
  <PresentationFormat>Widescreen</PresentationFormat>
  <Paragraphs>94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HASINI SHETTY</dc:creator>
  <cp:keywords/>
  <dc:description>generated using python-pptx</dc:description>
  <cp:lastModifiedBy>hasinithupalli2008@gmail.com</cp:lastModifiedBy>
  <cp:revision>2</cp:revision>
  <dcterms:created xsi:type="dcterms:W3CDTF">2013-01-27T09:14:16Z</dcterms:created>
  <dcterms:modified xsi:type="dcterms:W3CDTF">2026-10-10T03:38:24Z</dcterms:modified>
  <cp:category/>
</cp:coreProperties>
</file>